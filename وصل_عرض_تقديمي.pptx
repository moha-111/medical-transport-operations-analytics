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-914400"/>
            <a:ext cx="3657600" cy="3657600"/>
          </a:xfrm>
          <a:prstGeom prst="ellipse">
            <a:avLst/>
          </a:prstGeom>
          <a:solidFill>
            <a:srgbClr val="005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731520" y="5029200"/>
            <a:ext cx="2286000" cy="2286000"/>
          </a:xfrm>
          <a:prstGeom prst="ellipse">
            <a:avLst/>
          </a:prstGeom>
          <a:solidFill>
            <a:srgbClr val="005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91440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00C9C9"/>
                </a:solidFill>
                <a:latin typeface="Cairo"/>
              </a:rPr>
              <a:t>وصل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iro"/>
              </a:rPr>
              <a:t>WASL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175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EEEEEE"/>
                </a:solidFill>
                <a:latin typeface="Cairo"/>
              </a:rPr>
              <a:t>منصة ذكاء اصطناعي لإدارة عمليات النقل الطبي في الوقت الفعلي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3931920"/>
            <a:ext cx="8531352" cy="36576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4206240"/>
            <a:ext cx="2560320" cy="1371600"/>
          </a:xfrm>
          <a:prstGeom prst="roundRect">
            <a:avLst>
              <a:gd name="adj" fmla="val 15000"/>
            </a:avLst>
          </a:prstGeom>
          <a:solidFill>
            <a:srgbClr val="0E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2519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C9C9"/>
                </a:solidFill>
                <a:latin typeface="Cairo"/>
              </a:rPr>
              <a:t>14,169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846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EEEEE"/>
                </a:solidFill>
                <a:latin typeface="Cairo"/>
              </a:rPr>
              <a:t>مهمة مُسجَّلة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4206240"/>
            <a:ext cx="2560320" cy="1371600"/>
          </a:xfrm>
          <a:prstGeom prst="roundRect">
            <a:avLst>
              <a:gd name="adj" fmla="val 15000"/>
            </a:avLst>
          </a:prstGeom>
          <a:solidFill>
            <a:srgbClr val="0E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42519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C9C9"/>
                </a:solidFill>
                <a:latin typeface="Cairo"/>
              </a:rPr>
              <a:t>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4846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EEEEE"/>
                </a:solidFill>
                <a:latin typeface="Cairo"/>
              </a:rPr>
              <a:t>مركز صحي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206240"/>
            <a:ext cx="2560320" cy="1371600"/>
          </a:xfrm>
          <a:prstGeom prst="roundRect">
            <a:avLst>
              <a:gd name="adj" fmla="val 15000"/>
            </a:avLst>
          </a:prstGeom>
          <a:solidFill>
            <a:srgbClr val="0E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42519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C9C9"/>
                </a:solidFill>
                <a:latin typeface="Cairo"/>
              </a:rPr>
              <a:t>30+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4846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EEEEE"/>
                </a:solidFill>
                <a:latin typeface="Cairo"/>
              </a:rPr>
              <a:t>ساعة تشغيل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60" y="4206240"/>
            <a:ext cx="2560320" cy="1371600"/>
          </a:xfrm>
          <a:prstGeom prst="roundRect">
            <a:avLst>
              <a:gd name="adj" fmla="val 15000"/>
            </a:avLst>
          </a:prstGeom>
          <a:solidFill>
            <a:srgbClr val="0E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0" y="42519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C9C9"/>
                </a:solidFill>
                <a:latin typeface="Cairo"/>
              </a:rPr>
              <a:t>Sago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4846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EEEEE"/>
                </a:solidFill>
                <a:latin typeface="Cairo"/>
              </a:rPr>
              <a:t>شريك التقنية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0" y="644652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iro"/>
              </a:rPr>
              <a:t>هاكاثون 2026 — التجمع الصحي الأول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008B8B"/>
                </a:solidFill>
                <a:latin typeface="Cairo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FFFFFF"/>
                </a:solidFill>
                <a:latin typeface="Cairo"/>
              </a:rPr>
              <a:t>تعريف المشكلة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280160"/>
            <a:ext cx="3566160" cy="4389120"/>
          </a:xfrm>
          <a:prstGeom prst="roundRect">
            <a:avLst>
              <a:gd name="adj" fmla="val 12000"/>
            </a:avLst>
          </a:prstGeom>
          <a:solidFill>
            <a:srgbClr val="0E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3566160" cy="73152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2588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8B8B"/>
                </a:solidFill>
                <a:latin typeface="Cairo"/>
              </a:rPr>
              <a:t>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46304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00C9C9"/>
                </a:solidFill>
                <a:latin typeface="Cairo"/>
              </a:rPr>
              <a:t>ما هي المشكلة بالضبط؟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48840"/>
            <a:ext cx="3291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EEEEEE"/>
                </a:solidFill>
                <a:latin typeface="Cairo"/>
              </a:rPr>
              <a:t>سائق الإسعاف يحصل يومياً على أوامر
عشوائية — أولويات غير واضحة،
بيانات متفرقة، وقرارات تُتخذ
بلا أساس تحليلي.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280160"/>
            <a:ext cx="3566160" cy="4389120"/>
          </a:xfrm>
          <a:prstGeom prst="roundRect">
            <a:avLst>
              <a:gd name="adj" fmla="val 12000"/>
            </a:avLst>
          </a:prstGeom>
          <a:solidFill>
            <a:srgbClr val="0E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280160"/>
            <a:ext cx="3566160" cy="73152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32588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8B8B"/>
                </a:solidFill>
                <a:latin typeface="Cairo"/>
              </a:rPr>
              <a:t>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146304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00C9C9"/>
                </a:solidFill>
                <a:latin typeface="Cairo"/>
              </a:rPr>
              <a:t>متى يحدث هذا؟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148840"/>
            <a:ext cx="3291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EEEEEE"/>
                </a:solidFill>
                <a:latin typeface="Cairo"/>
              </a:rPr>
              <a:t>94.3٪ من الطلبات تجاوزت
متوسط انتظار 64 دقيقة
خلال ساعات الذروة اليومية.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280160"/>
            <a:ext cx="3566160" cy="4389120"/>
          </a:xfrm>
          <a:prstGeom prst="roundRect">
            <a:avLst>
              <a:gd name="adj" fmla="val 12000"/>
            </a:avLst>
          </a:prstGeom>
          <a:solidFill>
            <a:srgbClr val="0E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280160"/>
            <a:ext cx="3566160" cy="73152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32588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8B8B"/>
                </a:solidFill>
                <a:latin typeface="Cairo"/>
              </a:rPr>
              <a:t>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146304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00C9C9"/>
                </a:solidFill>
                <a:latin typeface="Cairo"/>
              </a:rPr>
              <a:t>من المتأثرون؟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148840"/>
            <a:ext cx="3291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EEEEEE"/>
                </a:solidFill>
                <a:latin typeface="Cairo"/>
              </a:rPr>
              <a:t>219 خدمة إسعاف في
التجمع الصحي الأول وحده
تعمل دون لوحة تحكم
موحدة أو تحليل فعّال.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71600" y="5760720"/>
            <a:ext cx="9445752" cy="777240"/>
          </a:xfrm>
          <a:prstGeom prst="roundRect">
            <a:avLst>
              <a:gd name="adj" fmla="val 10000"/>
            </a:avLst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5779008"/>
            <a:ext cx="94457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iro"/>
              </a:rPr>
              <a:t>كل دقيقة تأخير في الإسعاف تزيد نسبة الوفاة بنسبة تصل إلى 10٪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008B8B"/>
                </a:solidFill>
                <a:latin typeface="Cairo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FFFFFF"/>
                </a:solidFill>
                <a:latin typeface="Cairo"/>
              </a:rPr>
              <a:t>الحل ومواءمة الفكرة للمسار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00C9C9"/>
                </a:solidFill>
                <a:latin typeface="Cairo"/>
              </a:rPr>
              <a:t>ما هو وصل؟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920240"/>
            <a:ext cx="2651760" cy="2926080"/>
          </a:xfrm>
          <a:prstGeom prst="roundRect">
            <a:avLst>
              <a:gd name="adj" fmla="val 12000"/>
            </a:avLst>
          </a:prstGeom>
          <a:solidFill>
            <a:srgbClr val="0E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920240"/>
            <a:ext cx="2651760" cy="6400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01168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iro"/>
              </a:rPr>
              <a:t>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69748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C9C9"/>
                </a:solidFill>
                <a:latin typeface="Cairo"/>
              </a:rPr>
              <a:t>لوحة تحكم مباشرة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24612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EEEEEE"/>
                </a:solidFill>
                <a:latin typeface="Cairo"/>
              </a:rPr>
              <a:t>تعرض جميع بيانات النقل الطبي
في الوقت الفعلي بشكل تفاعلي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46120" y="1920240"/>
            <a:ext cx="2651760" cy="2926080"/>
          </a:xfrm>
          <a:prstGeom prst="roundRect">
            <a:avLst>
              <a:gd name="adj" fmla="val 12000"/>
            </a:avLst>
          </a:prstGeom>
          <a:solidFill>
            <a:srgbClr val="0E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46120" y="1920240"/>
            <a:ext cx="2651760" cy="6400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6120" y="201168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iro"/>
              </a:rPr>
              <a:t>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269748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C9C9"/>
                </a:solidFill>
                <a:latin typeface="Cairo"/>
              </a:rPr>
              <a:t>تقارير PDF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79" y="324612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EEEEEE"/>
                </a:solidFill>
                <a:latin typeface="Cairo"/>
              </a:rPr>
              <a:t>تقارير تفصيلية تُولَّد
تلقائياً وتُرسَل بريدياً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1920240"/>
            <a:ext cx="2651760" cy="2926080"/>
          </a:xfrm>
          <a:prstGeom prst="roundRect">
            <a:avLst>
              <a:gd name="adj" fmla="val 12000"/>
            </a:avLst>
          </a:prstGeom>
          <a:solidFill>
            <a:srgbClr val="0E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920240"/>
            <a:ext cx="2651760" cy="6400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201168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iro"/>
              </a:rPr>
              <a:t>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269748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C9C9"/>
                </a:solidFill>
                <a:latin typeface="Cairo"/>
              </a:rPr>
              <a:t>تنبيهات فورية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324612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EEEEEE"/>
                </a:solidFill>
                <a:latin typeface="Cairo"/>
              </a:rPr>
              <a:t>إشعارات ذكية فور تجاوز
أي مؤشر للحد المسموح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06840" y="1920240"/>
            <a:ext cx="2651760" cy="2926080"/>
          </a:xfrm>
          <a:prstGeom prst="roundRect">
            <a:avLst>
              <a:gd name="adj" fmla="val 12000"/>
            </a:avLst>
          </a:prstGeom>
          <a:solidFill>
            <a:srgbClr val="0E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06840" y="1920240"/>
            <a:ext cx="2651760" cy="6400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06840" y="201168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iro"/>
              </a:rPr>
              <a:t>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06840" y="269748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C9C9"/>
                </a:solidFill>
                <a:latin typeface="Cairo"/>
              </a:rPr>
              <a:t>تحليل مقارن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324612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EEEEEE"/>
                </a:solidFill>
                <a:latin typeface="Cairo"/>
              </a:rPr>
              <a:t>مقارنة الأداء بين المراكز
والفترات الزمنية المختلفة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029200"/>
            <a:ext cx="11457432" cy="4572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5047488"/>
            <a:ext cx="3200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iro"/>
              </a:rPr>
              <a:t>وصل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0" y="5047488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iro"/>
              </a:rPr>
              <a:t>المنافس التقليدي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5047488"/>
            <a:ext cx="3200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  <a:latin typeface="Cairo"/>
              </a:rPr>
              <a:t>المعيار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5532120"/>
            <a:ext cx="11457432" cy="438912"/>
          </a:xfrm>
          <a:prstGeom prst="rect">
            <a:avLst/>
          </a:prstGeom>
          <a:solidFill>
            <a:srgbClr val="0E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557784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C87A"/>
                </a:solidFill>
                <a:latin typeface="Cairo"/>
              </a:rPr>
              <a:t>✅ لوحة مباشرة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0" y="55778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4A4A"/>
                </a:solidFill>
                <a:latin typeface="Cairo"/>
              </a:rPr>
              <a:t>❌ تقارير يدوية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0" y="557784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EEEEEE"/>
                </a:solidFill>
                <a:latin typeface="Cairo"/>
              </a:rPr>
              <a:t>البيانات الفورية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5989320"/>
            <a:ext cx="11457432" cy="438912"/>
          </a:xfrm>
          <a:prstGeom prst="rect">
            <a:avLst/>
          </a:prstGeom>
          <a:solidFill>
            <a:srgbClr val="12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603504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C87A"/>
                </a:solidFill>
                <a:latin typeface="Cairo"/>
              </a:rPr>
              <a:t>✅ ذكاء اصطناعي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0" y="60350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4A4A"/>
                </a:solidFill>
                <a:latin typeface="Cairo"/>
              </a:rPr>
              <a:t>❌ لا يوجد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5360" y="603504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EEEEEE"/>
                </a:solidFill>
                <a:latin typeface="Cairo"/>
              </a:rPr>
              <a:t>التحليل التنبؤي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008B8B"/>
                </a:solidFill>
                <a:latin typeface="Cairo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600" b="1" i="0">
                <a:solidFill>
                  <a:srgbClr val="FFFFFF"/>
                </a:solidFill>
                <a:latin typeface="Cairo"/>
              </a:rPr>
              <a:t>مقارنة شاملة: وصل مقابل الحلول التقليدية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143000"/>
            <a:ext cx="3749039" cy="502920"/>
          </a:xfrm>
          <a:prstGeom prst="roundRect">
            <a:avLst>
              <a:gd name="adj" fmla="val 5000"/>
            </a:avLst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70432"/>
            <a:ext cx="37490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iro"/>
              </a:rPr>
              <a:t>وصل 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143000"/>
            <a:ext cx="3931920" cy="502920"/>
          </a:xfrm>
          <a:prstGeom prst="roundRect">
            <a:avLst>
              <a:gd name="adj" fmla="val 5000"/>
            </a:avLst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1170432"/>
            <a:ext cx="3931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iro"/>
              </a:rPr>
              <a:t>الحل التقليدي 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1143000"/>
            <a:ext cx="3566160" cy="502920"/>
          </a:xfrm>
          <a:prstGeom prst="roundRect">
            <a:avLst>
              <a:gd name="adj" fmla="val 5000"/>
            </a:avLst>
          </a:prstGeom>
          <a:solidFill>
            <a:srgbClr val="1C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170432"/>
            <a:ext cx="3566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iro"/>
              </a:rPr>
              <a:t>المعيار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783080"/>
            <a:ext cx="3749039" cy="658368"/>
          </a:xfrm>
          <a:prstGeom prst="rect">
            <a:avLst/>
          </a:prstGeom>
          <a:solidFill>
            <a:srgbClr val="0E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874519"/>
            <a:ext cx="35661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C87A"/>
                </a:solidFill>
                <a:latin typeface="Cairo"/>
              </a:rPr>
              <a:t>لوحة تحكم لحظية تفاعلية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783080"/>
            <a:ext cx="3931920" cy="658368"/>
          </a:xfrm>
          <a:prstGeom prst="rect">
            <a:avLst/>
          </a:prstGeom>
          <a:solidFill>
            <a:srgbClr val="0E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1874519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4A4A"/>
                </a:solidFill>
                <a:latin typeface="Cairo"/>
              </a:rPr>
              <a:t>جداول بيانات ثابتة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0" y="1783080"/>
            <a:ext cx="3566160" cy="658368"/>
          </a:xfrm>
          <a:prstGeom prst="rect">
            <a:avLst/>
          </a:prstGeom>
          <a:solidFill>
            <a:srgbClr val="0E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19" y="1874519"/>
            <a:ext cx="3383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EEEEE"/>
                </a:solidFill>
                <a:latin typeface="Cairo"/>
              </a:rPr>
              <a:t>عرض البيانات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496312"/>
            <a:ext cx="3749039" cy="658368"/>
          </a:xfrm>
          <a:prstGeom prst="rect">
            <a:avLst/>
          </a:prstGeom>
          <a:solidFill>
            <a:srgbClr val="12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587752"/>
            <a:ext cx="35661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C87A"/>
                </a:solidFill>
                <a:latin typeface="Cairo"/>
              </a:rPr>
              <a:t>تنبيهات ذكية فورية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2496312"/>
            <a:ext cx="3931920" cy="658368"/>
          </a:xfrm>
          <a:prstGeom prst="rect">
            <a:avLst/>
          </a:prstGeom>
          <a:solidFill>
            <a:srgbClr val="12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2587752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4A4A"/>
                </a:solidFill>
                <a:latin typeface="Cairo"/>
              </a:rPr>
              <a:t>مراجعة يدوية دورية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12480" y="2496312"/>
            <a:ext cx="3566160" cy="658368"/>
          </a:xfrm>
          <a:prstGeom prst="rect">
            <a:avLst/>
          </a:prstGeom>
          <a:solidFill>
            <a:srgbClr val="12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19" y="2587752"/>
            <a:ext cx="3383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EEEEE"/>
                </a:solidFill>
                <a:latin typeface="Cairo"/>
              </a:rPr>
              <a:t>آلية التنبيه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209544"/>
            <a:ext cx="3749039" cy="658368"/>
          </a:xfrm>
          <a:prstGeom prst="rect">
            <a:avLst/>
          </a:prstGeom>
          <a:solidFill>
            <a:srgbClr val="0E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300984"/>
            <a:ext cx="35661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C87A"/>
                </a:solidFill>
                <a:latin typeface="Cairo"/>
              </a:rPr>
              <a:t>تحليل AI تنبؤي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7680" y="3209544"/>
            <a:ext cx="3931920" cy="658368"/>
          </a:xfrm>
          <a:prstGeom prst="rect">
            <a:avLst/>
          </a:prstGeom>
          <a:solidFill>
            <a:srgbClr val="0E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0" y="3300984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4A4A"/>
                </a:solidFill>
                <a:latin typeface="Cairo"/>
              </a:rPr>
              <a:t>تقارير وصفية فقط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12480" y="3209544"/>
            <a:ext cx="3566160" cy="658368"/>
          </a:xfrm>
          <a:prstGeom prst="rect">
            <a:avLst/>
          </a:prstGeom>
          <a:solidFill>
            <a:srgbClr val="0E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19" y="3300984"/>
            <a:ext cx="3383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EEEEE"/>
                </a:solidFill>
                <a:latin typeface="Cairo"/>
              </a:rPr>
              <a:t>نوع التحليل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3922776"/>
            <a:ext cx="3749039" cy="658368"/>
          </a:xfrm>
          <a:prstGeom prst="rect">
            <a:avLst/>
          </a:prstGeom>
          <a:solidFill>
            <a:srgbClr val="12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014215"/>
            <a:ext cx="35661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C87A"/>
                </a:solidFill>
                <a:latin typeface="Cairo"/>
              </a:rPr>
              <a:t>تقارير PDF تلقائية بالبريد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97680" y="3922776"/>
            <a:ext cx="3931920" cy="658368"/>
          </a:xfrm>
          <a:prstGeom prst="rect">
            <a:avLst/>
          </a:prstGeom>
          <a:solidFill>
            <a:srgbClr val="12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0" y="4014215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4A4A"/>
                </a:solidFill>
                <a:latin typeface="Cairo"/>
              </a:rPr>
              <a:t>طباعة يدوية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12480" y="3922776"/>
            <a:ext cx="3566160" cy="658368"/>
          </a:xfrm>
          <a:prstGeom prst="rect">
            <a:avLst/>
          </a:prstGeom>
          <a:solidFill>
            <a:srgbClr val="12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03919" y="4014215"/>
            <a:ext cx="3383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EEEEE"/>
                </a:solidFill>
                <a:latin typeface="Cairo"/>
              </a:rPr>
              <a:t>التقارير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636008"/>
            <a:ext cx="3749039" cy="658368"/>
          </a:xfrm>
          <a:prstGeom prst="rect">
            <a:avLst/>
          </a:prstGeom>
          <a:solidFill>
            <a:srgbClr val="0E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4727448"/>
            <a:ext cx="35661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C87A"/>
                </a:solidFill>
                <a:latin typeface="Cairo"/>
              </a:rPr>
              <a:t>تكامل مع Google Sheets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97680" y="4636008"/>
            <a:ext cx="3931920" cy="658368"/>
          </a:xfrm>
          <a:prstGeom prst="rect">
            <a:avLst/>
          </a:prstGeom>
          <a:solidFill>
            <a:srgbClr val="0E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89120" y="4727448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4A4A"/>
                </a:solidFill>
                <a:latin typeface="Cairo"/>
              </a:rPr>
              <a:t>أنظمة منعزلة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412480" y="4636008"/>
            <a:ext cx="3566160" cy="658368"/>
          </a:xfrm>
          <a:prstGeom prst="rect">
            <a:avLst/>
          </a:prstGeom>
          <a:solidFill>
            <a:srgbClr val="0E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03919" y="4727448"/>
            <a:ext cx="3383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EEEEE"/>
                </a:solidFill>
                <a:latin typeface="Cairo"/>
              </a:rPr>
              <a:t>التكامل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5349240"/>
            <a:ext cx="3749039" cy="658368"/>
          </a:xfrm>
          <a:prstGeom prst="rect">
            <a:avLst/>
          </a:prstGeom>
          <a:solidFill>
            <a:srgbClr val="12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5440680"/>
            <a:ext cx="35661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C87A"/>
                </a:solidFill>
                <a:latin typeface="Cairo"/>
              </a:rPr>
              <a:t>0 مبرمجين – 72 ساعة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97680" y="5349240"/>
            <a:ext cx="3931920" cy="658368"/>
          </a:xfrm>
          <a:prstGeom prst="rect">
            <a:avLst/>
          </a:prstGeom>
          <a:solidFill>
            <a:srgbClr val="12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89120" y="544068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4A4A"/>
                </a:solidFill>
                <a:latin typeface="Cairo"/>
              </a:rPr>
              <a:t>فريق تطوير ضخم – أشهر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412480" y="5349240"/>
            <a:ext cx="3566160" cy="658368"/>
          </a:xfrm>
          <a:prstGeom prst="rect">
            <a:avLst/>
          </a:prstGeom>
          <a:solidFill>
            <a:srgbClr val="12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03919" y="5440680"/>
            <a:ext cx="3383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EEEEE"/>
                </a:solidFill>
                <a:latin typeface="Cairo"/>
              </a:rPr>
              <a:t>التطوير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6080760"/>
            <a:ext cx="11457432" cy="548640"/>
          </a:xfrm>
          <a:prstGeom prst="rect">
            <a:avLst/>
          </a:prstGeom>
          <a:solidFill>
            <a:srgbClr val="00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5760" y="6099048"/>
            <a:ext cx="114574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D700"/>
                </a:solidFill>
                <a:latin typeface="Cairo"/>
              </a:rPr>
              <a:t>وصل أُنجز بـ 12,500 ريال مقابل تكلفة تقليدية تتجاوز 500,000 ريال — توفير 97.5٪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008B8B"/>
                </a:solidFill>
                <a:latin typeface="Cairo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FFFFFF"/>
                </a:solidFill>
                <a:latin typeface="Cairo"/>
              </a:rPr>
              <a:t>دور الذكاء الاصطناعي في الحل</a:t>
            </a:r>
          </a:p>
        </p:txBody>
      </p:sp>
      <p:sp>
        <p:nvSpPr>
          <p:cNvPr id="6" name="Oval 5"/>
          <p:cNvSpPr/>
          <p:nvPr/>
        </p:nvSpPr>
        <p:spPr>
          <a:xfrm>
            <a:off x="4937760" y="1737360"/>
            <a:ext cx="2313432" cy="2313432"/>
          </a:xfrm>
          <a:prstGeom prst="ellipse">
            <a:avLst/>
          </a:prstGeom>
          <a:solidFill>
            <a:srgbClr val="005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0" y="2011680"/>
            <a:ext cx="231343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iro"/>
              </a:rPr>
              <a:t>Claude
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463040"/>
            <a:ext cx="2468880" cy="1737360"/>
          </a:xfrm>
          <a:prstGeom prst="roundRect">
            <a:avLst>
              <a:gd name="adj" fmla="val 12000"/>
            </a:avLst>
          </a:prstGeom>
          <a:solidFill>
            <a:srgbClr val="0E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463040"/>
            <a:ext cx="2468880" cy="5486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544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0C9C9"/>
                </a:solidFill>
                <a:latin typeface="Cairo"/>
              </a:rPr>
              <a:t>🤖 إرسال ذكي بالذكاء الاصطناعي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05740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EEEEEE"/>
                </a:solidFill>
                <a:latin typeface="Cairo"/>
              </a:rPr>
              <a:t>تحليل بيانات الأولوية والموقع
لتوجيه الإسعاف الأمثل فورياً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3657600"/>
            <a:ext cx="2468880" cy="1737360"/>
          </a:xfrm>
          <a:prstGeom prst="roundRect">
            <a:avLst>
              <a:gd name="adj" fmla="val 12000"/>
            </a:avLst>
          </a:prstGeom>
          <a:solidFill>
            <a:srgbClr val="0E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657600"/>
            <a:ext cx="2468880" cy="5486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3749039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0C9C9"/>
                </a:solidFill>
                <a:latin typeface="Cairo"/>
              </a:rPr>
              <a:t>🔮 تحليل استشرافي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25196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EEEEEE"/>
                </a:solidFill>
                <a:latin typeface="Cairo"/>
              </a:rPr>
              <a:t>التنبؤ بأوقات الذروة
واحتياجات الموارد مسبقاً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18320" y="1463040"/>
            <a:ext cx="2468880" cy="1737360"/>
          </a:xfrm>
          <a:prstGeom prst="roundRect">
            <a:avLst>
              <a:gd name="adj" fmla="val 12000"/>
            </a:avLst>
          </a:prstGeom>
          <a:solidFill>
            <a:srgbClr val="0E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418320" y="1463040"/>
            <a:ext cx="2468880" cy="5486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0" y="15544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0C9C9"/>
                </a:solidFill>
                <a:latin typeface="Cairo"/>
              </a:rPr>
              <a:t>⚡ تنبيهات ذكية فورية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205740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EEEEEE"/>
                </a:solidFill>
                <a:latin typeface="Cairo"/>
              </a:rPr>
              <a:t>Claude AI يحلل الأنماط
ويُرسل تحذيرات استباقية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18320" y="3657600"/>
            <a:ext cx="2468880" cy="1737360"/>
          </a:xfrm>
          <a:prstGeom prst="roundRect">
            <a:avLst>
              <a:gd name="adj" fmla="val 12000"/>
            </a:avLst>
          </a:prstGeom>
          <a:solidFill>
            <a:srgbClr val="0E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418320" y="3657600"/>
            <a:ext cx="2468880" cy="5486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0" y="3749039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0C9C9"/>
                </a:solidFill>
                <a:latin typeface="Cairo"/>
              </a:rPr>
              <a:t>🔍 كشف الأنماط والاتجاهات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425196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EEEEEE"/>
                </a:solidFill>
                <a:latin typeface="Cairo"/>
              </a:rPr>
              <a:t>تحديد المشكلات المتكررة
والفجوات في تغطية الخدمة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5303520"/>
            <a:ext cx="2468880" cy="1737360"/>
          </a:xfrm>
          <a:prstGeom prst="roundRect">
            <a:avLst>
              <a:gd name="adj" fmla="val 12000"/>
            </a:avLst>
          </a:prstGeom>
          <a:solidFill>
            <a:srgbClr val="0E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89120" y="5303520"/>
            <a:ext cx="2468880" cy="5486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80559" y="5394959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0C9C9"/>
                </a:solidFill>
                <a:latin typeface="Cairo"/>
              </a:rPr>
              <a:t>📋 توليد تقارير مقارنة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59" y="589788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EEEEEE"/>
                </a:solidFill>
                <a:latin typeface="Cairo"/>
              </a:rPr>
              <a:t>تقارير مفصّلة تُولَّد
تلقائياً بالذكاء الاصطناعي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008B8B"/>
                </a:solidFill>
                <a:latin typeface="Cairo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FFFFFF"/>
                </a:solidFill>
                <a:latin typeface="Cairo"/>
              </a:rPr>
              <a:t>منهجية البناء — Vibe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00C9C9"/>
                </a:solidFill>
                <a:latin typeface="Cairo"/>
              </a:rPr>
              <a:t>مبدأ Vibe Engineering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645920"/>
            <a:ext cx="1828800" cy="1097280"/>
          </a:xfrm>
          <a:prstGeom prst="roundRect">
            <a:avLst>
              <a:gd name="adj" fmla="val 12000"/>
            </a:avLst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691640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iro"/>
              </a:rPr>
              <a:t>مشكلة
تجارية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196596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8B8B"/>
                </a:solidFill>
                <a:latin typeface="Cairo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97479" y="1645920"/>
            <a:ext cx="1828800" cy="1097280"/>
          </a:xfrm>
          <a:prstGeom prst="roundRect">
            <a:avLst>
              <a:gd name="adj" fmla="val 12000"/>
            </a:avLst>
          </a:prstGeom>
          <a:solidFill>
            <a:srgbClr val="0E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97479" y="1691640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iro"/>
              </a:rPr>
              <a:t>وصفها
بدقة لـ Claude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79" y="196596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8B8B"/>
                </a:solidFill>
                <a:latin typeface="Cairo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1645920"/>
            <a:ext cx="1828800" cy="1097280"/>
          </a:xfrm>
          <a:prstGeom prst="roundRect">
            <a:avLst>
              <a:gd name="adj" fmla="val 12000"/>
            </a:avLst>
          </a:prstGeom>
          <a:solidFill>
            <a:srgbClr val="0E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1691640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iro"/>
              </a:rPr>
              <a:t>Claude
يصمم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196596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8B8B"/>
                </a:solidFill>
                <a:latin typeface="Cairo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60919" y="1645920"/>
            <a:ext cx="1828800" cy="1097280"/>
          </a:xfrm>
          <a:prstGeom prst="roundRect">
            <a:avLst>
              <a:gd name="adj" fmla="val 12000"/>
            </a:avLst>
          </a:prstGeom>
          <a:solidFill>
            <a:srgbClr val="0E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60919" y="1691640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iro"/>
              </a:rPr>
              <a:t>Make.com
يبني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19" y="196596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8B8B"/>
                </a:solidFill>
                <a:latin typeface="Cairo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92640" y="1645920"/>
            <a:ext cx="1828800" cy="1097280"/>
          </a:xfrm>
          <a:prstGeom prst="roundRect">
            <a:avLst>
              <a:gd name="adj" fmla="val 12000"/>
            </a:avLst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0" y="1691640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iro"/>
              </a:rPr>
              <a:t>النظام
يعمل 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292608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00C9C9"/>
                </a:solidFill>
                <a:latin typeface="Cairo"/>
              </a:rPr>
              <a:t>الأدوات المستخدمة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3474720"/>
            <a:ext cx="3566160" cy="1005840"/>
          </a:xfrm>
          <a:prstGeom prst="roundRect">
            <a:avLst>
              <a:gd name="adj" fmla="val 10000"/>
            </a:avLst>
          </a:prstGeom>
          <a:solidFill>
            <a:srgbClr val="0E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3474720"/>
            <a:ext cx="3566160" cy="54864"/>
          </a:xfrm>
          <a:prstGeom prst="rect">
            <a:avLst/>
          </a:prstGeom>
          <a:solidFill>
            <a:srgbClr val="00C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566160"/>
            <a:ext cx="3383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0C9C9"/>
                </a:solidFill>
                <a:latin typeface="Cairo"/>
              </a:rPr>
              <a:t>🤖 Claude 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977639"/>
            <a:ext cx="3383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EEEEEE"/>
                </a:solidFill>
                <a:latin typeface="Cairo"/>
              </a:rPr>
              <a:t>التصميم والتحليل الذكي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0" y="3474720"/>
            <a:ext cx="3566160" cy="1005840"/>
          </a:xfrm>
          <a:prstGeom prst="roundRect">
            <a:avLst>
              <a:gd name="adj" fmla="val 10000"/>
            </a:avLst>
          </a:prstGeom>
          <a:solidFill>
            <a:srgbClr val="0E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97680" y="3474720"/>
            <a:ext cx="3566160" cy="54864"/>
          </a:xfrm>
          <a:prstGeom prst="rect">
            <a:avLst/>
          </a:prstGeom>
          <a:solidFill>
            <a:srgbClr val="00C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9120" y="3566160"/>
            <a:ext cx="3383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0C9C9"/>
                </a:solidFill>
                <a:latin typeface="Cairo"/>
              </a:rPr>
              <a:t>⚙️ Make.com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3977639"/>
            <a:ext cx="3383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EEEEEE"/>
                </a:solidFill>
                <a:latin typeface="Cairo"/>
              </a:rPr>
              <a:t>أتمتة سير العمل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0" y="3474720"/>
            <a:ext cx="3566160" cy="1005840"/>
          </a:xfrm>
          <a:prstGeom prst="roundRect">
            <a:avLst>
              <a:gd name="adj" fmla="val 10000"/>
            </a:avLst>
          </a:prstGeom>
          <a:solidFill>
            <a:srgbClr val="0E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29600" y="3474720"/>
            <a:ext cx="3566160" cy="54864"/>
          </a:xfrm>
          <a:prstGeom prst="rect">
            <a:avLst/>
          </a:prstGeom>
          <a:solidFill>
            <a:srgbClr val="00C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40" y="3566160"/>
            <a:ext cx="3383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0C9C9"/>
                </a:solidFill>
                <a:latin typeface="Cairo"/>
              </a:rPr>
              <a:t>📊 Google Sheets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3977639"/>
            <a:ext cx="3383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EEEEEE"/>
                </a:solidFill>
                <a:latin typeface="Cairo"/>
              </a:rPr>
              <a:t>قاعدة البيانات الحية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60" y="4617720"/>
            <a:ext cx="3566160" cy="1005840"/>
          </a:xfrm>
          <a:prstGeom prst="roundRect">
            <a:avLst>
              <a:gd name="adj" fmla="val 10000"/>
            </a:avLst>
          </a:prstGeom>
          <a:solidFill>
            <a:srgbClr val="0E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4617720"/>
            <a:ext cx="3566160" cy="54864"/>
          </a:xfrm>
          <a:prstGeom prst="rect">
            <a:avLst/>
          </a:prstGeom>
          <a:solidFill>
            <a:srgbClr val="00C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4709159"/>
            <a:ext cx="3383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0C9C9"/>
                </a:solidFill>
                <a:latin typeface="Cairo"/>
              </a:rPr>
              <a:t>🌐 GitHub Pages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120640"/>
            <a:ext cx="3383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EEEEEE"/>
                </a:solidFill>
                <a:latin typeface="Cairo"/>
              </a:rPr>
              <a:t>استضافة مجانية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97680" y="4617720"/>
            <a:ext cx="3566160" cy="1005840"/>
          </a:xfrm>
          <a:prstGeom prst="roundRect">
            <a:avLst>
              <a:gd name="adj" fmla="val 10000"/>
            </a:avLst>
          </a:prstGeom>
          <a:solidFill>
            <a:srgbClr val="0E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97680" y="4617720"/>
            <a:ext cx="3566160" cy="54864"/>
          </a:xfrm>
          <a:prstGeom prst="rect">
            <a:avLst/>
          </a:prstGeom>
          <a:solidFill>
            <a:srgbClr val="00C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9120" y="4709159"/>
            <a:ext cx="3383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0C9C9"/>
                </a:solidFill>
                <a:latin typeface="Cairo"/>
              </a:rPr>
              <a:t>📜 Apps Script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89120" y="5120640"/>
            <a:ext cx="3383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EEEEEE"/>
                </a:solidFill>
                <a:latin typeface="Cairo"/>
              </a:rPr>
              <a:t>البرمجة النصية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29600" y="4617720"/>
            <a:ext cx="3566160" cy="1005840"/>
          </a:xfrm>
          <a:prstGeom prst="roundRect">
            <a:avLst>
              <a:gd name="adj" fmla="val 10000"/>
            </a:avLst>
          </a:prstGeom>
          <a:solidFill>
            <a:srgbClr val="0E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229600" y="4617720"/>
            <a:ext cx="3566160" cy="54864"/>
          </a:xfrm>
          <a:prstGeom prst="rect">
            <a:avLst/>
          </a:prstGeom>
          <a:solidFill>
            <a:srgbClr val="00C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21040" y="4709159"/>
            <a:ext cx="3383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0C9C9"/>
                </a:solidFill>
                <a:latin typeface="Cairo"/>
              </a:rPr>
              <a:t>📧 Gmail API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40" y="5120640"/>
            <a:ext cx="3383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EEEEEE"/>
                </a:solidFill>
                <a:latin typeface="Cairo"/>
              </a:rPr>
              <a:t>إرسال التقارير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0" y="6327648"/>
            <a:ext cx="12188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iro"/>
              </a:rPr>
              <a:t>0 مبرمجين   |   72 ساعة بناء   |   12,500 ريال (بدلاً من 500,000 ريال)   |   توفير 97.5٪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008B8B"/>
                </a:solidFill>
                <a:latin typeface="Cairo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FFFFFF"/>
                </a:solidFill>
                <a:latin typeface="Cairo"/>
              </a:rPr>
              <a:t>استعراض المنتج وتجربة المستخدم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00C9C9"/>
                </a:solidFill>
                <a:latin typeface="Cairo"/>
              </a:rPr>
              <a:t>ثلاث خطوات بسيطة للبدء</a:t>
            </a:r>
          </a:p>
        </p:txBody>
      </p:sp>
      <p:sp>
        <p:nvSpPr>
          <p:cNvPr id="7" name="Oval 6"/>
          <p:cNvSpPr/>
          <p:nvPr/>
        </p:nvSpPr>
        <p:spPr>
          <a:xfrm>
            <a:off x="1645920" y="1737360"/>
            <a:ext cx="914400" cy="914400"/>
          </a:xfrm>
          <a:prstGeom prst="ellipse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1783080"/>
            <a:ext cx="914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iro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834640"/>
            <a:ext cx="3474720" cy="2743200"/>
          </a:xfrm>
          <a:prstGeom prst="roundRect">
            <a:avLst>
              <a:gd name="adj" fmla="val 12000"/>
            </a:avLst>
          </a:prstGeom>
          <a:solidFill>
            <a:srgbClr val="0E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92608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C9C9"/>
                </a:solidFill>
                <a:latin typeface="Cairo"/>
              </a:rPr>
              <a:t>افتح الرابط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7472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EEEEE"/>
                </a:solidFill>
                <a:latin typeface="Cairo"/>
              </a:rPr>
              <a:t>ادخل إلى لوحة التحكم عبر
أي متصفح أو جهاز محمول</a:t>
            </a:r>
          </a:p>
        </p:txBody>
      </p:sp>
      <p:sp>
        <p:nvSpPr>
          <p:cNvPr id="12" name="Oval 11"/>
          <p:cNvSpPr/>
          <p:nvPr/>
        </p:nvSpPr>
        <p:spPr>
          <a:xfrm>
            <a:off x="5532120" y="1737360"/>
            <a:ext cx="914400" cy="914400"/>
          </a:xfrm>
          <a:prstGeom prst="ellipse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32120" y="1783080"/>
            <a:ext cx="914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iro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2834640"/>
            <a:ext cx="3474720" cy="2743200"/>
          </a:xfrm>
          <a:prstGeom prst="roundRect">
            <a:avLst>
              <a:gd name="adj" fmla="val 12000"/>
            </a:avLst>
          </a:prstGeom>
          <a:solidFill>
            <a:srgbClr val="0E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292608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C9C9"/>
                </a:solidFill>
                <a:latin typeface="Cairo"/>
              </a:rPr>
              <a:t>تحكم في اللوحة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347472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EEEEE"/>
                </a:solidFill>
                <a:latin typeface="Cairo"/>
              </a:rPr>
              <a:t>راقب المهام والمراكز
وحلل البيانات الفورية</a:t>
            </a:r>
          </a:p>
        </p:txBody>
      </p:sp>
      <p:sp>
        <p:nvSpPr>
          <p:cNvPr id="17" name="Oval 16"/>
          <p:cNvSpPr/>
          <p:nvPr/>
        </p:nvSpPr>
        <p:spPr>
          <a:xfrm>
            <a:off x="9418320" y="1737360"/>
            <a:ext cx="914400" cy="914400"/>
          </a:xfrm>
          <a:prstGeom prst="ellipse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0" y="1783080"/>
            <a:ext cx="914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iro"/>
              </a:rP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2834640"/>
            <a:ext cx="3474720" cy="2743200"/>
          </a:xfrm>
          <a:prstGeom prst="roundRect">
            <a:avLst>
              <a:gd name="adj" fmla="val 12000"/>
            </a:avLst>
          </a:prstGeom>
          <a:solidFill>
            <a:srgbClr val="0E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292608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C9C9"/>
                </a:solidFill>
                <a:latin typeface="Cairo"/>
              </a:rPr>
              <a:t>التقارير تصلك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347472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EEEEE"/>
                </a:solidFill>
                <a:latin typeface="Cairo"/>
              </a:rPr>
              <a:t>تقارير PDF تُرسَل تلقائياً
إلى بريدك الإلكتروني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715000"/>
            <a:ext cx="11274552" cy="822960"/>
          </a:xfrm>
          <a:prstGeom prst="roundRect">
            <a:avLst>
              <a:gd name="adj" fmla="val 10000"/>
            </a:avLst>
          </a:prstGeom>
          <a:solidFill>
            <a:srgbClr val="0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5715000"/>
            <a:ext cx="11274552" cy="5486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5742432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C9C9"/>
                </a:solidFill>
                <a:latin typeface="Cairo"/>
              </a:rPr>
              <a:t>🌐  wasl-dashboard.github.io  — لوحة تحكم مباشرة  |  وصل للنقل الطبي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008B8B"/>
                </a:solidFill>
                <a:latin typeface="Cairo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FFFFFF"/>
                </a:solidFill>
                <a:latin typeface="Cairo"/>
              </a:rPr>
              <a:t>الأثر المستقبلي وخطة التطوير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651760"/>
            <a:ext cx="10725912" cy="5486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28800" y="2468880"/>
            <a:ext cx="420624" cy="420624"/>
          </a:xfrm>
          <a:prstGeom prst="ellipse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8B8B"/>
                </a:solidFill>
                <a:latin typeface="Cairo"/>
              </a:rPr>
              <a:t>الآن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26080"/>
            <a:ext cx="2560320" cy="1463040"/>
          </a:xfrm>
          <a:prstGeom prst="roundRect">
            <a:avLst>
              <a:gd name="adj" fmla="val 10000"/>
            </a:avLst>
          </a:prstGeom>
          <a:solidFill>
            <a:srgbClr val="0E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01752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EEEEE"/>
                </a:solidFill>
                <a:latin typeface="Cairo"/>
              </a:rPr>
              <a:t>أول مستشفى في التجمع الصحي الأول
(المرحلة 3 — مباشر)</a:t>
            </a:r>
          </a:p>
        </p:txBody>
      </p:sp>
      <p:sp>
        <p:nvSpPr>
          <p:cNvPr id="11" name="Oval 10"/>
          <p:cNvSpPr/>
          <p:nvPr/>
        </p:nvSpPr>
        <p:spPr>
          <a:xfrm>
            <a:off x="4663440" y="2468880"/>
            <a:ext cx="420624" cy="420624"/>
          </a:xfrm>
          <a:prstGeom prst="ellipse">
            <a:avLst/>
          </a:prstGeom>
          <a:solidFill>
            <a:srgbClr val="00C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14630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C9C9"/>
                </a:solidFill>
                <a:latin typeface="Cairo"/>
              </a:rPr>
              <a:t>2026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66160" y="2926080"/>
            <a:ext cx="2560320" cy="1463040"/>
          </a:xfrm>
          <a:prstGeom prst="roundRect">
            <a:avLst>
              <a:gd name="adj" fmla="val 10000"/>
            </a:avLst>
          </a:prstGeom>
          <a:solidFill>
            <a:srgbClr val="0E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301752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EEEEE"/>
                </a:solidFill>
                <a:latin typeface="Cairo"/>
              </a:rPr>
              <a:t>التجمع الصحي الأول بالكامل
(تقارب المرحلة الأولى)</a:t>
            </a:r>
          </a:p>
        </p:txBody>
      </p:sp>
      <p:sp>
        <p:nvSpPr>
          <p:cNvPr id="15" name="Oval 14"/>
          <p:cNvSpPr/>
          <p:nvPr/>
        </p:nvSpPr>
        <p:spPr>
          <a:xfrm>
            <a:off x="7498079" y="2468880"/>
            <a:ext cx="420624" cy="420624"/>
          </a:xfrm>
          <a:prstGeom prst="ellipse">
            <a:avLst/>
          </a:prstGeom>
          <a:solidFill>
            <a:srgbClr val="00C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4630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C87A"/>
                </a:solidFill>
                <a:latin typeface="Cairo"/>
              </a:rPr>
              <a:t>2027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926080"/>
            <a:ext cx="2560320" cy="1463040"/>
          </a:xfrm>
          <a:prstGeom prst="roundRect">
            <a:avLst>
              <a:gd name="adj" fmla="val 10000"/>
            </a:avLst>
          </a:prstGeom>
          <a:solidFill>
            <a:srgbClr val="0E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01752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EEEEE"/>
                </a:solidFill>
                <a:latin typeface="Cairo"/>
              </a:rPr>
              <a:t>13 تجمعاً وطنياً
10 مناطق إقليمية</a:t>
            </a:r>
          </a:p>
        </p:txBody>
      </p:sp>
      <p:sp>
        <p:nvSpPr>
          <p:cNvPr id="19" name="Oval 18"/>
          <p:cNvSpPr/>
          <p:nvPr/>
        </p:nvSpPr>
        <p:spPr>
          <a:xfrm>
            <a:off x="10241280" y="2468880"/>
            <a:ext cx="420624" cy="420624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0" y="14630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D700"/>
                </a:solidFill>
                <a:latin typeface="Cairo"/>
              </a:rPr>
              <a:t>2028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2926080"/>
            <a:ext cx="2560320" cy="1463040"/>
          </a:xfrm>
          <a:prstGeom prst="roundRect">
            <a:avLst>
              <a:gd name="adj" fmla="val 10000"/>
            </a:avLst>
          </a:prstGeom>
          <a:solidFill>
            <a:srgbClr val="0E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0" y="301752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EEEEE"/>
                </a:solidFill>
                <a:latin typeface="Cairo"/>
              </a:rPr>
              <a:t>5 دول خليجية
توسع إقليمي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663440"/>
            <a:ext cx="3474720" cy="1280160"/>
          </a:xfrm>
          <a:prstGeom prst="roundRect">
            <a:avLst>
              <a:gd name="adj" fmla="val 12000"/>
            </a:avLst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70916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iro"/>
              </a:rPr>
              <a:t>+600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3492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EEEEE"/>
                </a:solidFill>
                <a:latin typeface="Cairo"/>
              </a:rPr>
              <a:t>مستشفى هدف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0" y="4663440"/>
            <a:ext cx="3474720" cy="1280160"/>
          </a:xfrm>
          <a:prstGeom prst="roundRect">
            <a:avLst>
              <a:gd name="adj" fmla="val 12000"/>
            </a:avLst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97680" y="470916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iro"/>
              </a:rPr>
              <a:t>14 شهراً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53492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EEEEE"/>
                </a:solidFill>
                <a:latin typeface="Cairo"/>
              </a:rPr>
              <a:t>نقطة التعادل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38160" y="4663440"/>
            <a:ext cx="3474720" cy="1280160"/>
          </a:xfrm>
          <a:prstGeom prst="roundRect">
            <a:avLst>
              <a:gd name="adj" fmla="val 12000"/>
            </a:avLst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38160" y="470916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iro"/>
              </a:rPr>
              <a:t>686٪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53492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EEEEE"/>
                </a:solidFill>
                <a:latin typeface="Cairo"/>
              </a:rPr>
              <a:t>عائد الاستثمار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080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0C9C9"/>
                </a:solidFill>
                <a:latin typeface="Cairo"/>
              </a:rPr>
              <a:t>الخطوات التالية الفورية: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EEEEEE"/>
                </a:solidFill>
                <a:latin typeface="Cairo"/>
              </a:rPr>
              <a:t>① التوسع داخل التجمع الصحي الأول   ② توقيع اتفاقية شراكة   ③ تطوير تطبيق الجوال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0" y="-1371600"/>
            <a:ext cx="6400800" cy="6400800"/>
          </a:xfrm>
          <a:prstGeom prst="ellipse">
            <a:avLst/>
          </a:prstGeom>
          <a:solidFill>
            <a:srgbClr val="005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5486400" cy="5486400"/>
          </a:xfrm>
          <a:prstGeom prst="ellipse">
            <a:avLst/>
          </a:prstGeom>
          <a:solidFill>
            <a:srgbClr val="004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745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0" b="1" i="0">
                <a:solidFill>
                  <a:srgbClr val="FFFFFF"/>
                </a:solidFill>
                <a:latin typeface="Cairo"/>
              </a:rPr>
              <a:t>شكراً لكم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00C9C9"/>
                </a:solidFill>
                <a:latin typeface="Cairo"/>
              </a:rPr>
              <a:t>THANK YOU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3474720"/>
            <a:ext cx="6702552" cy="457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C9C9"/>
                </a:solidFill>
                <a:latin typeface="Cairo"/>
              </a:rPr>
              <a:t>وصل — بُنيت من داخل سيارة الإسعاف، تُنقذ الأرواح بالبيانات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43484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iro"/>
              </a:rPr>
              <a:t>وصل  |  WASL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0" y="6245352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iro"/>
              </a:rPr>
              <a:t>هاكاثون 2026   |   التجمع الصحي الأول   |   المملكة العربية السعودية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